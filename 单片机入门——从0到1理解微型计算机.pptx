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大家好，今天我们用10分钟的时间，快速了解一下什么是单片机，它到底是什么，能做什么，以及我们该如何入门。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单片机可以说是现代智能设备的"大脑"，从你的智能手表到家里的空调遥控器，背后都有它的身影。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今天的内容我们围绕这五个问题展开。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先搞清楚它是什么，再看里面有什么，然后看看它在生活中的应用，接着了解开发流程，最后给大家一个入门路线图。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我们每天都在用单片机，但可能从来没注意过它。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单片机的全称是单片微型计算机，就是把一整台计算机的核心部件，全部集成在一块指甲盖大小的芯片上。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它和我们桌上的电脑不一样，它不是用来跑大软件的，而是专门用来控制某一个特定设备的。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我们来看单片机的内部结构。中心是CPU内核，负责执行指令，就像我们的大脑。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旁边是存储器，Flash存程序，RAM存运行时的数据。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然后是各种外设接口：GPIO用来读按钮、控制LED；定时器用来精确计时；通信接口用来和其他芯片通信。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这些全部集成在一块指甲盖大小的芯片上。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很多人会问，单片机是不是就是小一点的电脑？其实不是，它们的设计目标完全不同。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电脑是通用的，什么都能跑，追求高性能。而单片机是专用的，只为某一个特定任务设计，够用就行。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所以单片机性能低、功耗低、成本极低，一块芯片可能只要几毛钱，但它能在那个特定岗位上工作十几年。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单片机的应用远比你想象的广泛。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家里的家电、随身的智能设备、汽车里的各种控制模块、工厂里的自动化设备、甚至医疗仪器，背后都是单片机在工作。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据统计，平均每个人每天接触的设备里，藏着超过10块单片机。它是真正的"隐形工作者"。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很多人觉得单片机开发很神秘，其实流程非常简单，就四步。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第一步，用C语言写程序，告诉芯片你要它做什么。第二步，编译，把人能看懂的代码翻译成芯片能执行的机器码。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第三步，烧录，把编译好的程序下载到芯片里。第四步，上电运行，看效果，不对就回来改。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就这么简单，循环往复，你的项目就一点点做出来了。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这就是单片机里的"Hello World"——点亮一个LED，让它闪烁。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代码非常简单：把某个引脚的电压拉高，LED就亮了；拉低，LED就灭了。中间加个延时，控制闪烁的速度。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别小看这几行代码，它背后其实包含了单片机开发的所有核心概念：引脚控制、延时、循环。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学会了这个，你就已经入门了一半。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最后给大家一个入门路线图。很多人一上来就买一本厚书啃，啃了两周还没见到一个灯亮，就放弃了。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正确的做法是：先选一块开发板，Arduino最友好，STM32是工业主流，ESP32适合做联网项目。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然后跟着教程一个个做实验，从点亮LED开始，按键、串口、读传感器。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最后一定要做一个自己的小项目，把学的东西串起来。记住，动手优先，别光看书，先让灯亮起来再说。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总结一下，单片机就是把一台微型计算机集成在一块芯片上，它是现代智能设备的核心控制单元。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它很小，但它是软件和物理世界之间的桥梁。学会了单片机，你就可以用代码控制真实世界的东西了。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希望今天的分享能让大家对单片机有个基本的认识，也欢迎大家入坑。谢谢大家。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76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667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单片机入门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 0 到 1 理解微型计算机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533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10 分钟快速入门 · 教学分享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今天我们要聊清楚这 5 个问题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64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215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905000" y="2159000"/>
            <a:ext cx="825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到底什么是单片机？它和电脑有什么区别？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92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905000" y="2921000"/>
            <a:ext cx="825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单片机里面都有什么？它是怎么工作的？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905000" y="3683000"/>
            <a:ext cx="825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它到底藏在我们生活的哪些地方？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444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905000" y="4445000"/>
            <a:ext cx="825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怎么让一块"死"芯片动起来？开发流程是什么？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5207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905000" y="5207000"/>
            <a:ext cx="825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零基础想入门，第一步该做什么？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为什么家电里都藏着一个"小电脑"？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64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215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先想一个问题：你手里的空调遥控器，为什么能记住你设定的温度？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单片机 = 把一台计算机集成在一块芯片上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4064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它不是"迷你版电脑"，而是专门为控制特定设备设计的微型计算机。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一块芯片上集成了：CPU、存储器、输入输出接口。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0" y="3937000"/>
            <a:ext cx="4572000" cy="1778000"/>
          </a:xfrm>
          <a:prstGeom prst="roundRect">
            <a:avLst>
              <a:gd name="adj" fmla="val 5714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858000" y="412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858000" y="4572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体积小、功耗低、成本极低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为特定控制任务量身定制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一块芯片就是一个完整系统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单片机里面到底装了什么？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64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4826000" y="2794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4826000" y="298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CPU 内核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4826000" y="342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大脑 · 执行指令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2286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524000" y="24765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存储器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524000" y="28575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Flash · RAM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0" y="2286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 txBox="1"/>
          <p:nvPr/>
        </p:nvSpPr>
        <p:spPr>
          <a:xfrm>
            <a:off x="8382000" y="24765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GPIO 引脚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382000" y="28575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输入输出接口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4318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524000" y="45085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定时器/计数器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524000" y="48895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精确计时 · 定时中断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4318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 txBox="1"/>
          <p:nvPr/>
        </p:nvSpPr>
        <p:spPr>
          <a:xfrm>
            <a:off x="8382000" y="45085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通信接口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382000" y="488950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UART · I2C · SPI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一块芯片 = 一台完整的微型计算机系统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单片机和你桌上的电脑，到底哪里不一样？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64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2159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通用计算机（PC）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单片机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设计目标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通用计算，跑各种软件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专用控制，完成特定任务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性能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GHz 级，多核，高性能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MHz 级，单核，够用就好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几十瓦到上百瓦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毫瓦级，电池可用数年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几千到几万元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几块到几十块钱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核心区别：一个是"全能选手"，一个是"专业选手"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单片机藏在你生活的哪些角落？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64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203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你每天接触的设备里，平均有 10 块以上的单片机在工作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2700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智能家居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70000" y="3302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空调、洗衣机、冰箱、微波炉、智能灯泡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2667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 txBox="1"/>
          <p:nvPr/>
        </p:nvSpPr>
        <p:spPr>
          <a:xfrm>
            <a:off x="48260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消费电子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826000" y="3302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智能手表、耳机、充电宝、遥控器、键盘鼠标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667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83820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汽车电子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382000" y="3302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车窗控制、ABS、胎压监测、车载空调、钥匙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445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1270000" y="463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工业控制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270000" y="5080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传感器、PLC、电机驱动、流水线控制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72000" y="4445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 txBox="1"/>
          <p:nvPr/>
        </p:nvSpPr>
        <p:spPr>
          <a:xfrm>
            <a:off x="4826000" y="463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医疗设备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4826000" y="5080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电子血压计、血糖仪、呼吸机、输液泵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4445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 txBox="1"/>
          <p:nvPr/>
        </p:nvSpPr>
        <p:spPr>
          <a:xfrm>
            <a:off x="8382000" y="463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你手里的开发板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8382000" y="5080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STM32、Arduino、ESP32 —— 你的第一个实验对象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怎么让一块"死"芯片动起来？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64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203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单片机开发的标准流程，一共 4 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2921000"/>
            <a:ext cx="762000" cy="762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270000" y="3111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2413000" y="298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写程序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2413000" y="3365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用 C 语言写你想让它做的事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68745">
            <a:off x="5334063" y="3295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6223000" y="2921000"/>
            <a:ext cx="762000" cy="762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 txBox="1"/>
          <p:nvPr/>
        </p:nvSpPr>
        <p:spPr>
          <a:xfrm>
            <a:off x="6223000" y="3111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366000" y="298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编译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366000" y="3365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把代码翻译成芯片能懂的机器码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70000" y="4699000"/>
            <a:ext cx="762000" cy="762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1270000" y="4889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2413000" y="4762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烧录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2413000" y="5143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把程序下载到芯片的 Flash 里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68745">
            <a:off x="5334063" y="5073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6223000" y="4699000"/>
            <a:ext cx="762000" cy="762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 txBox="1"/>
          <p:nvPr/>
        </p:nvSpPr>
        <p:spPr>
          <a:xfrm>
            <a:off x="6223000" y="4889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7366000" y="4762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运行调试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7366000" y="5143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上电运行，看效果，有问题就改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本质：告诉芯片"你要做什么"，它就会一遍又一遍地执行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你的第一个程序：点亮一个 LED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64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203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就像学编程的 Hello World，单片机入门的第一课是点亮 LED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5588000" cy="2794000"/>
          </a:xfrm>
          <a:prstGeom prst="roundRect">
            <a:avLst>
              <a:gd name="adj" fmla="val 3636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270000" y="3175000"/>
            <a:ext cx="5080000" cy="17958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 dirty="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让 PA0 </a:t>
            </a:r>
            <a:r>
              <a:rPr lang="en-US" sz="1300" b="0" i="0" u="none" strike="noStrike" dirty="0" err="1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引脚输出高电平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 dirty="0" err="1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GPIO_SetBits</a:t>
            </a:r>
            <a:r>
              <a:rPr lang="en-US" sz="1300" b="0" i="0" u="none" strike="noStrike" dirty="0">
                <a:solidFill>
                  <a:srgbClr val="86EFAC"/>
                </a:solidFill>
                <a:latin typeface="Roboto Mono"/>
                <a:ea typeface="Roboto Mono"/>
                <a:cs typeface="Roboto Mono"/>
                <a:sym typeface="Roboto Mono"/>
              </a:rPr>
              <a:t>(GPIOA, GPIO_Pin_0);</a:t>
            </a:r>
          </a:p>
          <a:p>
            <a:pPr marL="0" indent="0" algn="l">
              <a:lnSpc>
                <a:spcPct val="150000"/>
              </a:lnSpc>
            </a:pPr>
            <a:endParaRPr lang="en-US" sz="1300" b="0" i="0" u="none" strike="noStrike" dirty="0">
              <a:solidFill>
                <a:srgbClr val="86EFA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300" b="0" i="0" u="none" strike="noStrike" dirty="0" err="1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延时</a:t>
            </a:r>
            <a:r>
              <a:rPr lang="en-US" sz="1300" b="0" i="0" u="none" strike="noStrike" dirty="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1 秒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 dirty="0" err="1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Delay_Ms</a:t>
            </a:r>
            <a:r>
              <a:rPr lang="en-US" sz="1300" b="0" i="0" u="none" strike="noStrike" dirty="0">
                <a:solidFill>
                  <a:srgbClr val="86EFAC"/>
                </a:solidFill>
                <a:latin typeface="Roboto Mono"/>
                <a:ea typeface="Roboto Mono"/>
                <a:cs typeface="Roboto Mono"/>
                <a:sym typeface="Roboto Mono"/>
              </a:rPr>
              <a:t>(1000);</a:t>
            </a:r>
          </a:p>
          <a:p>
            <a:pPr marL="0" indent="0" algn="l">
              <a:lnSpc>
                <a:spcPct val="150000"/>
              </a:lnSpc>
            </a:pPr>
            <a:endParaRPr lang="en-US" sz="1300" b="0" i="0" u="none" strike="noStrike" dirty="0">
              <a:solidFill>
                <a:srgbClr val="86EFA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300" b="0" i="0" u="none" strike="noStrike" dirty="0" err="1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输出低电平，LED</a:t>
            </a:r>
            <a:r>
              <a:rPr lang="en-US" sz="1300" b="0" i="0" u="none" strike="noStrike" dirty="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300" b="0" i="0" u="none" strike="noStrike" dirty="0" err="1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熄灭</a:t>
            </a:r>
            <a:endParaRPr lang="en-US" sz="1300" b="0" i="0" u="none" strike="noStrike" dirty="0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 dirty="0" err="1">
                <a:solidFill>
                  <a:srgbClr val="FCD34D"/>
                </a:solidFill>
                <a:latin typeface="Roboto Mono"/>
                <a:ea typeface="Roboto Mono"/>
                <a:cs typeface="Roboto Mono"/>
                <a:sym typeface="Roboto Mono"/>
              </a:rPr>
              <a:t>GPIO_ResetBits</a:t>
            </a:r>
            <a:r>
              <a:rPr lang="en-US" sz="1300" b="0" i="0" u="none" strike="noStrike" dirty="0">
                <a:solidFill>
                  <a:srgbClr val="86EFAC"/>
                </a:solidFill>
                <a:latin typeface="Roboto Mono"/>
                <a:ea typeface="Roboto Mono"/>
                <a:cs typeface="Roboto Mono"/>
                <a:sym typeface="Roboto Mono"/>
              </a:rPr>
              <a:t>(GPIOA, GPIO_Pin_0);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sz="1300" b="0" i="0" u="none" strike="noStrike" dirty="0" err="1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再延时</a:t>
            </a:r>
            <a:r>
              <a:rPr lang="en-US" sz="1300" b="0" i="0" u="none" strike="noStrike" dirty="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1 </a:t>
            </a:r>
            <a:r>
              <a:rPr lang="en-US" sz="1300" b="0" i="0" u="none" strike="noStrike" dirty="0" err="1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秒，循环往复</a:t>
            </a:r>
            <a:endParaRPr lang="en-US" sz="1300" b="0" i="0" u="none" strike="noStrike" dirty="0">
              <a:solidFill>
                <a:srgbClr val="94A3B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7112000" y="2794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这段代码做了什么？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112000" y="3365500"/>
            <a:ext cx="406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把 PA0 这个引脚电压拉高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LED 就亮了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等 1 秒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把电压拉低，LED 就灭了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再等 1 秒，无限循环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效果：LED 一秒亮、一秒灭，一闪一闪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零基础入门，第一步该做什么？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64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203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别上来就啃厚书，按这个路径走，最快 1 周就能做出东西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3175000" cy="3048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270000" y="2921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70000" y="342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选一块开发板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70000" y="3937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推荐入门选择：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Arduino（超简单）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STM32（工业主流）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ESP32（带WiFi）</a:t>
            </a:r>
          </a:p>
        </p:txBody>
      </p:sp>
      <p:sp>
        <p:nvSpPr>
          <p:cNvPr id="9" name="AutoShape 9"/>
          <p:cNvSpPr/>
          <p:nvPr/>
        </p:nvSpPr>
        <p:spPr>
          <a:xfrm>
            <a:off x="4508500" y="2667000"/>
            <a:ext cx="3175000" cy="3048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4762500" y="2921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762500" y="342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跟着做实验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762500" y="3937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按顺序练：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点亮 LED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按键控制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串口打印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读传感器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001000" y="2667000"/>
            <a:ext cx="3175000" cy="3048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8255000" y="2921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255000" y="342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做一个小项目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255000" y="3937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比如：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智能小台灯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温湿度监测器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遥控小车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· 自动浇花系统</a:t>
            </a:r>
          </a:p>
        </p:txBody>
      </p:sp>
      <p:sp>
        <p:nvSpPr>
          <p:cNvPr id="17" name="AutoShape 17"/>
          <p:cNvSpPr txBox="1"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核心原则：动手优先，别光看书，先让灯亮起来再说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76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66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单片机很小，但它能连接物理世界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从点亮一个 LED 开始，打开硬件世界的大门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533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 · 欢迎提问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Microsoft Office PowerPoint</Application>
  <PresentationFormat>宽屏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慧杰 范</cp:lastModifiedBy>
  <cp:revision>1</cp:revision>
  <dcterms:modified xsi:type="dcterms:W3CDTF">2026-10-04T01:16:13Z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{"Label":"1","ContentProducer":"001191110102MACQD9K64010000","ProduceID":"7692613929004191959","ReservedCode1":"","ContentPropagator":"","PropagateID":"","ReservedCode2":""}</vt:lpwstr>
  </property>
</Properties>
</file>